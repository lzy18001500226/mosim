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0" r:id="rId2"/>
    <p:sldId id="256" r:id="rId3"/>
    <p:sldId id="261" r:id="rId4"/>
    <p:sldId id="257" r:id="rId5"/>
    <p:sldId id="263" r:id="rId6"/>
    <p:sldId id="262" r:id="rId7"/>
    <p:sldId id="265" r:id="rId8"/>
    <p:sldId id="264" r:id="rId9"/>
    <p:sldId id="266" r:id="rId10"/>
    <p:sldId id="259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24263-D71B-4AE1-B0A9-AEFCF8CBFD27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FF2735-ABE6-48FF-A6FD-15A0F7C992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680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563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正文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形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" name="TextBox 9"/>
          <p:cNvSpPr txBox="1"/>
          <p:nvPr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2" name="图片 11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矩形 1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" name="直接连接符 16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9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" name="图形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2" name="TextBox 9"/>
          <p:cNvSpPr txBox="1"/>
          <p:nvPr userDrawn="1"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分栏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14" name="箭头: 五边形 11"/>
          <p:cNvSpPr/>
          <p:nvPr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矩形 1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0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形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4" name="箭头: 五边形 11"/>
          <p:cNvSpPr/>
          <p:nvPr userDrawn="1"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目录">
    <p:bg>
      <p:bgPr>
        <a:solidFill>
          <a:srgbClr val="0071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5"/>
          <p:cNvSpPr/>
          <p:nvPr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9" name="图形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5"/>
          <p:cNvSpPr/>
          <p:nvPr userDrawn="1"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4" name="图形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15" name="直接连接符 14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PT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F395-A1D5-4125-9D36-1CFC3A1A84FD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294B6-5423-46D6-BB68-F0D33664B48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正文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形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2" name="TextBox 9"/>
          <p:cNvSpPr txBox="1"/>
          <p:nvPr userDrawn="1"/>
        </p:nvSpPr>
        <p:spPr>
          <a:xfrm>
            <a:off x="8622361" y="6376056"/>
            <a:ext cx="2828018" cy="3867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Copyright © </a:t>
            </a:r>
            <a:fld id="{839A42EC-1890-4FE1-934A-E135FEB31A60}" type="datetimeyyyy">
              <a:rPr lang="en-US" altLang="zh-CN" sz="900" baseline="0" smtClean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</a:t>
            </a:fld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苏州同元软控信息技术有限公司</a:t>
            </a:r>
            <a:endParaRPr lang="en-US" altLang="zh-CN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10000"/>
              </a:lnSpc>
            </a:pPr>
            <a:r>
              <a:rPr lang="en-US" altLang="zh-CN" sz="900" baseline="0" dirty="0">
                <a:solidFill>
                  <a:srgbClr val="3B74B2"/>
                </a:solidFill>
                <a:latin typeface="Microsoft YaHei UI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 rights reserved</a:t>
            </a:r>
            <a:endParaRPr lang="zh-CN" altLang="en-US" sz="900" baseline="0" dirty="0">
              <a:solidFill>
                <a:srgbClr val="3B74B2"/>
              </a:solidFill>
              <a:latin typeface="Microsoft YaHei UI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分栏">
    <p:bg>
      <p:bgPr>
        <a:gradFill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8" t="35441" r="18962" b="23522"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  <a:alpha val="90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>
            <a:off x="11493599" y="6330765"/>
            <a:ext cx="698400" cy="432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1" name="灯片编号占位符 13"/>
          <p:cNvSpPr txBox="1"/>
          <p:nvPr userDrawn="1"/>
        </p:nvSpPr>
        <p:spPr>
          <a:xfrm>
            <a:off x="11580040" y="6356582"/>
            <a:ext cx="525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ctr">
              <a:defRPr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CD45CB9B-4DF8-4FF7-BEBC-4B0B26C01F34}" type="slidenum">
              <a:rPr lang="zh-CN" altLang="en-US" b="0" smtClean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‹#›</a:t>
            </a:fld>
            <a:endParaRPr lang="zh-CN" altLang="en-US" b="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6862942" y="6269915"/>
            <a:ext cx="4640727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等线" panose="02010600030101010101" pitchFamily="2" charset="-122"/>
                <a:ea typeface="等线" panose="02010600030101010101" pitchFamily="2" charset="-122"/>
              </a:rPr>
              <a:t>Model Based Systems Engineering</a:t>
            </a:r>
          </a:p>
          <a:p>
            <a:pPr algn="r"/>
            <a:r>
              <a:rPr lang="en-US" altLang="zh-CN" sz="1400" i="1" dirty="0">
                <a:latin typeface="等线" panose="02010600030101010101" pitchFamily="2" charset="-122"/>
                <a:ea typeface="等线" panose="02010600030101010101" pitchFamily="2" charset="-122"/>
              </a:rPr>
              <a:t>Powered by </a:t>
            </a:r>
            <a:r>
              <a:rPr lang="en-US" altLang="zh-CN" sz="1400" b="1" i="1" dirty="0" err="1">
                <a:latin typeface="等线" panose="02010600030101010101" pitchFamily="2" charset="-122"/>
                <a:ea typeface="等线" panose="02010600030101010101" pitchFamily="2" charset="-122"/>
              </a:rPr>
              <a:t>MWorks</a:t>
            </a:r>
            <a:endParaRPr lang="zh-CN" altLang="en-US" sz="1400" b="1" i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266339"/>
            <a:ext cx="234000" cy="144000"/>
          </a:xfrm>
          <a:prstGeom prst="rect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sp>
        <p:nvSpPr>
          <p:cNvPr id="14" name="箭头: 五边形 11"/>
          <p:cNvSpPr/>
          <p:nvPr userDrawn="1"/>
        </p:nvSpPr>
        <p:spPr>
          <a:xfrm rot="16200000">
            <a:off x="-925199" y="4399928"/>
            <a:ext cx="4733458" cy="66329"/>
          </a:xfrm>
          <a:prstGeom prst="homePlate">
            <a:avLst/>
          </a:prstGeom>
          <a:solidFill>
            <a:srgbClr val="3B74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PT目录">
    <p:bg>
      <p:bgPr>
        <a:solidFill>
          <a:srgbClr val="0071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2" t="36162" r="19099" b="23412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accent5">
              <a:lumMod val="7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5"/>
          <p:cNvSpPr/>
          <p:nvPr userDrawn="1"/>
        </p:nvSpPr>
        <p:spPr>
          <a:xfrm>
            <a:off x="1920375" y="0"/>
            <a:ext cx="10271625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554200" y="62015"/>
            <a:ext cx="561517" cy="561517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H="1">
            <a:off x="9980579" y="301517"/>
            <a:ext cx="1560107" cy="0"/>
          </a:xfrm>
          <a:prstGeom prst="line">
            <a:avLst/>
          </a:prstGeom>
          <a:ln w="9525">
            <a:solidFill>
              <a:srgbClr val="3B74B2"/>
            </a:soli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2F395-A1D5-4125-9D36-1CFC3A1A84FD}" type="datetimeFigureOut">
              <a:rPr lang="zh-CN" altLang="en-US" smtClean="0"/>
              <a:t>2024/9/13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294B6-5423-46D6-BB68-F0D33664B4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791794" y="4861467"/>
            <a:ext cx="52116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苏州同元软控信息技术有限公司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91558" y="5703565"/>
            <a:ext cx="20088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2024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en-US" altLang="zh-CN" sz="2800" b="1" dirty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264"/>
          <a:stretch>
            <a:fillRect/>
          </a:stretch>
        </p:blipFill>
        <p:spPr bwMode="auto">
          <a:xfrm>
            <a:off x="3105150" y="4861467"/>
            <a:ext cx="628649" cy="469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/>
        </p:nvSpPr>
        <p:spPr>
          <a:xfrm>
            <a:off x="0" y="1617487"/>
            <a:ext cx="12192000" cy="17724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TextBox 3"/>
          <p:cNvSpPr txBox="1">
            <a:spLocks noChangeArrowheads="1"/>
          </p:cNvSpPr>
          <p:nvPr/>
        </p:nvSpPr>
        <p:spPr bwMode="auto">
          <a:xfrm>
            <a:off x="0" y="2110120"/>
            <a:ext cx="12192000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PostEngineer</a:t>
            </a:r>
            <a:r>
              <a:rPr kumimoji="0" lang="en-US" altLang="zh-CN" sz="3200" b="1" i="0" u="none" strike="noStrike" kern="1200" cap="none" spc="0" normalizeH="0" baseline="30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®</a:t>
            </a:r>
            <a:r>
              <a:rPr lang="zh-CN" altLang="en-US" sz="32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培训教程</a:t>
            </a:r>
            <a:r>
              <a:rPr lang="en-US" altLang="zh-CN" sz="36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</a:t>
            </a:r>
            <a:endParaRPr kumimoji="0" lang="en-US" altLang="zh-CN" sz="280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-1" y="2809906"/>
            <a:ext cx="12192000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第六讲 数据驱动</a:t>
            </a:r>
            <a:endParaRPr kumimoji="0" lang="en-US" altLang="zh-CN" sz="200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482400" y="2421606"/>
            <a:ext cx="2217353" cy="2217353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2325821" y="2265027"/>
            <a:ext cx="2530511" cy="2530511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325821" y="2265027"/>
            <a:ext cx="2530511" cy="2530511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022926" y="1962132"/>
            <a:ext cx="3136300" cy="3136300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55086" y="2866559"/>
            <a:ext cx="2071979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目录</a:t>
            </a:r>
            <a:endParaRPr lang="en-US" altLang="zh-CN" sz="48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735194" y="2585712"/>
            <a:ext cx="1640246" cy="1842935"/>
            <a:chOff x="1997035" y="2290189"/>
            <a:chExt cx="1640246" cy="1842935"/>
          </a:xfrm>
        </p:grpSpPr>
        <p:sp>
          <p:nvSpPr>
            <p:cNvPr id="20" name="椭圆 19"/>
            <p:cNvSpPr/>
            <p:nvPr/>
          </p:nvSpPr>
          <p:spPr>
            <a:xfrm>
              <a:off x="1997035" y="3945759"/>
              <a:ext cx="187365" cy="187365"/>
            </a:xfrm>
            <a:prstGeom prst="ellipse">
              <a:avLst/>
            </a:prstGeom>
            <a:solidFill>
              <a:srgbClr val="3A6B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3484683" y="2290189"/>
              <a:ext cx="152598" cy="15259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22" name="直接连接符 21"/>
            <p:cNvCxnSpPr>
              <a:stCxn id="21" idx="3"/>
              <a:endCxn id="20" idx="7"/>
            </p:cNvCxnSpPr>
            <p:nvPr/>
          </p:nvCxnSpPr>
          <p:spPr>
            <a:xfrm flipH="1">
              <a:off x="2156961" y="2420440"/>
              <a:ext cx="1350069" cy="1552758"/>
            </a:xfrm>
            <a:prstGeom prst="line">
              <a:avLst/>
            </a:prstGeom>
            <a:ln>
              <a:solidFill>
                <a:schemeClr val="bg1">
                  <a:alpha val="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2910440" y="3628169"/>
            <a:ext cx="1361270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C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ONTENTS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82315" y="1961832"/>
            <a:ext cx="3286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配置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MWorks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端通信协议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文本框 12"/>
          <p:cNvSpPr txBox="1"/>
          <p:nvPr/>
        </p:nvSpPr>
        <p:spPr>
          <a:xfrm>
            <a:off x="5634540" y="1792287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01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596440" y="1726882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6870250" y="3225482"/>
            <a:ext cx="2936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</a:lstStyle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配置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PE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端通信协议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3"/>
          <p:cNvSpPr txBox="1"/>
          <p:nvPr/>
        </p:nvSpPr>
        <p:spPr>
          <a:xfrm>
            <a:off x="5634540" y="3056572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02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596440" y="2991167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1"/>
          <p:cNvSpPr txBox="1"/>
          <p:nvPr/>
        </p:nvSpPr>
        <p:spPr>
          <a:xfrm>
            <a:off x="6865805" y="4474527"/>
            <a:ext cx="2936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</a:lstStyle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UDP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通信应用</a:t>
            </a:r>
          </a:p>
        </p:txBody>
      </p:sp>
      <p:sp>
        <p:nvSpPr>
          <p:cNvPr id="18" name="文本框 13"/>
          <p:cNvSpPr txBox="1"/>
          <p:nvPr/>
        </p:nvSpPr>
        <p:spPr>
          <a:xfrm>
            <a:off x="5630095" y="4305617"/>
            <a:ext cx="8134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i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03</a:t>
            </a:r>
            <a:endParaRPr lang="zh-CN" altLang="en-US" sz="4000" i="1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591995" y="4240212"/>
            <a:ext cx="857885" cy="890905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453085" y="3229699"/>
            <a:ext cx="35706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配置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MWorks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端通信协议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  <p:sp>
        <p:nvSpPr>
          <p:cNvPr id="5" name="文本框 5"/>
          <p:cNvSpPr txBox="1"/>
          <p:nvPr/>
        </p:nvSpPr>
        <p:spPr>
          <a:xfrm>
            <a:off x="3367643" y="2921168"/>
            <a:ext cx="10855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01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168310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168310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50614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60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026592"/>
            <a:ext cx="2305050" cy="8051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1038022"/>
            <a:ext cx="2463800" cy="793750"/>
          </a:xfrm>
          <a:prstGeom prst="rect">
            <a:avLst/>
          </a:prstGeom>
        </p:spPr>
      </p:pic>
      <p:sp>
        <p:nvSpPr>
          <p:cNvPr id="16" name="文本框 4"/>
          <p:cNvSpPr txBox="1"/>
          <p:nvPr/>
        </p:nvSpPr>
        <p:spPr>
          <a:xfrm>
            <a:off x="760730" y="1898447"/>
            <a:ext cx="4752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打开M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orks软件，并加载“通信组件案例”文件夹内的“Model3.mo”和“DeviceDrivers-&gt;package.mo”文件。</a:t>
            </a:r>
          </a:p>
        </p:txBody>
      </p:sp>
      <p:sp>
        <p:nvSpPr>
          <p:cNvPr id="17" name="右箭头 16"/>
          <p:cNvSpPr/>
          <p:nvPr/>
        </p:nvSpPr>
        <p:spPr>
          <a:xfrm>
            <a:off x="5856605" y="1518082"/>
            <a:ext cx="824230" cy="270510"/>
          </a:xfrm>
          <a:prstGeom prst="rightArrow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340" y="1026275"/>
            <a:ext cx="3691890" cy="945515"/>
          </a:xfrm>
          <a:prstGeom prst="rect">
            <a:avLst/>
          </a:prstGeom>
        </p:spPr>
      </p:pic>
      <p:sp>
        <p:nvSpPr>
          <p:cNvPr id="19" name="文本框 9"/>
          <p:cNvSpPr txBox="1"/>
          <p:nvPr/>
        </p:nvSpPr>
        <p:spPr>
          <a:xfrm>
            <a:off x="6852920" y="2002587"/>
            <a:ext cx="47523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将模型库切换为Modelica Standard Library - Version 3.2.3</a:t>
            </a:r>
          </a:p>
        </p:txBody>
      </p:sp>
      <p:sp>
        <p:nvSpPr>
          <p:cNvPr id="20" name="矩形 19"/>
          <p:cNvSpPr/>
          <p:nvPr/>
        </p:nvSpPr>
        <p:spPr>
          <a:xfrm>
            <a:off x="635230" y="830310"/>
            <a:ext cx="10605540" cy="1658303"/>
          </a:xfrm>
          <a:prstGeom prst="rect">
            <a:avLst/>
          </a:prstGeom>
          <a:noFill/>
          <a:ln w="3175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下箭头 20"/>
          <p:cNvSpPr/>
          <p:nvPr/>
        </p:nvSpPr>
        <p:spPr>
          <a:xfrm>
            <a:off x="8642891" y="2370753"/>
            <a:ext cx="482787" cy="636950"/>
          </a:xfrm>
          <a:prstGeom prst="downArrow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747" y="3153549"/>
            <a:ext cx="4926023" cy="3154750"/>
          </a:xfrm>
          <a:prstGeom prst="rect">
            <a:avLst/>
          </a:prstGeom>
        </p:spPr>
      </p:pic>
      <p:sp>
        <p:nvSpPr>
          <p:cNvPr id="23" name="文本框 27"/>
          <p:cNvSpPr txBox="1"/>
          <p:nvPr/>
        </p:nvSpPr>
        <p:spPr>
          <a:xfrm>
            <a:off x="635231" y="3153549"/>
            <a:ext cx="5003337" cy="1224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</a:pPr>
            <a:r>
              <a:rPr lang="zh-CN" altLang="en-US" sz="1600" dirty="0">
                <a:solidFill>
                  <a:srgbClr val="3A6B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选中模型“Model3”，点击图中编号为2的组件，查看组件参数，“localAddress”是本机IP地址，“remoteport”是数据发送到的端口号。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配置</a:t>
            </a:r>
            <a:r>
              <a:rPr lang="en-US" altLang="zh-CN" dirty="0" smtClean="0"/>
              <a:t>MWORKS</a:t>
            </a:r>
            <a:r>
              <a:rPr lang="zh-CN" altLang="en-US" dirty="0" smtClean="0"/>
              <a:t>端通信协议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453085" y="3229699"/>
            <a:ext cx="35706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配置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PE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端通信协议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  <p:sp>
        <p:nvSpPr>
          <p:cNvPr id="5" name="文本框 5"/>
          <p:cNvSpPr txBox="1"/>
          <p:nvPr/>
        </p:nvSpPr>
        <p:spPr>
          <a:xfrm>
            <a:off x="3367643" y="2921168"/>
            <a:ext cx="9957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02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168310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168310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50614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0826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366" y="734834"/>
            <a:ext cx="2630170" cy="1520190"/>
          </a:xfrm>
          <a:prstGeom prst="rect">
            <a:avLst/>
          </a:prstGeom>
        </p:spPr>
      </p:pic>
      <p:sp>
        <p:nvSpPr>
          <p:cNvPr id="8" name="文本框 2"/>
          <p:cNvSpPr txBox="1"/>
          <p:nvPr/>
        </p:nvSpPr>
        <p:spPr>
          <a:xfrm>
            <a:off x="665734" y="2482001"/>
            <a:ext cx="68638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在PE安装文件下找到文件：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“PostEngineer2024(试用版)\Config\plugin\PEToMWorks\comm.ini”。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906" y="766902"/>
            <a:ext cx="2399665" cy="1456055"/>
          </a:xfrm>
          <a:prstGeom prst="rect">
            <a:avLst/>
          </a:prstGeom>
        </p:spPr>
      </p:pic>
      <p:sp>
        <p:nvSpPr>
          <p:cNvPr id="10" name="文本框 7"/>
          <p:cNvSpPr txBox="1"/>
          <p:nvPr/>
        </p:nvSpPr>
        <p:spPr>
          <a:xfrm>
            <a:off x="7736078" y="3563915"/>
            <a:ext cx="3511296" cy="189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IP地址“receiveip”值对应MWorks通信组件的“localAddress”值，端口号“receiveport”值对应MWorks通信组件的“remoteport”值，“mutilcast”是单播与组播，0对应单播，1对应组播。</a:t>
            </a:r>
          </a:p>
        </p:txBody>
      </p:sp>
      <p:sp>
        <p:nvSpPr>
          <p:cNvPr id="11" name="流程图: 过程 10"/>
          <p:cNvSpPr/>
          <p:nvPr/>
        </p:nvSpPr>
        <p:spPr>
          <a:xfrm>
            <a:off x="1069086" y="1266012"/>
            <a:ext cx="993775" cy="457835"/>
          </a:xfrm>
          <a:prstGeom prst="flowChartProcess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</a:p>
        </p:txBody>
      </p:sp>
      <p:sp>
        <p:nvSpPr>
          <p:cNvPr id="12" name="流程图: 可选过程 11"/>
          <p:cNvSpPr/>
          <p:nvPr/>
        </p:nvSpPr>
        <p:spPr>
          <a:xfrm>
            <a:off x="2717546" y="1250137"/>
            <a:ext cx="975360" cy="489585"/>
          </a:xfrm>
          <a:prstGeom prst="flowChartAlternateProcess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9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打开文件所在位置</a:t>
            </a:r>
          </a:p>
        </p:txBody>
      </p:sp>
      <p:sp>
        <p:nvSpPr>
          <p:cNvPr id="13" name="右箭头 12"/>
          <p:cNvSpPr/>
          <p:nvPr/>
        </p:nvSpPr>
        <p:spPr>
          <a:xfrm>
            <a:off x="2113026" y="1412697"/>
            <a:ext cx="604520" cy="164465"/>
          </a:xfrm>
          <a:prstGeom prst="rightArrow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71906" y="776109"/>
            <a:ext cx="3209290" cy="143764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燕尾形箭头 14"/>
          <p:cNvSpPr/>
          <p:nvPr/>
        </p:nvSpPr>
        <p:spPr>
          <a:xfrm>
            <a:off x="4035446" y="1330147"/>
            <a:ext cx="650240" cy="329565"/>
          </a:xfrm>
          <a:prstGeom prst="notchedRightArrow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7529576" y="1364437"/>
            <a:ext cx="1029970" cy="260985"/>
          </a:xfrm>
          <a:prstGeom prst="rightArrow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14971" y="2597418"/>
            <a:ext cx="35112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打开“comm.ini”文件，修改参数值。</a:t>
            </a:r>
            <a:endParaRPr lang="zh-CN" altLang="en-US" sz="1500" dirty="0"/>
          </a:p>
        </p:txBody>
      </p:sp>
      <p:sp>
        <p:nvSpPr>
          <p:cNvPr id="18" name="流程图: 可选过程 17"/>
          <p:cNvSpPr/>
          <p:nvPr/>
        </p:nvSpPr>
        <p:spPr>
          <a:xfrm>
            <a:off x="1245616" y="3661907"/>
            <a:ext cx="975360" cy="489585"/>
          </a:xfrm>
          <a:prstGeom prst="flowChartAlternateProcess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receiveip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9" name="左右箭头 18"/>
          <p:cNvSpPr/>
          <p:nvPr/>
        </p:nvSpPr>
        <p:spPr>
          <a:xfrm>
            <a:off x="3588131" y="3813037"/>
            <a:ext cx="1025525" cy="187325"/>
          </a:xfrm>
          <a:prstGeom prst="leftRightArrow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流程图: 可选过程 19"/>
          <p:cNvSpPr/>
          <p:nvPr/>
        </p:nvSpPr>
        <p:spPr>
          <a:xfrm>
            <a:off x="5528056" y="3661907"/>
            <a:ext cx="1204595" cy="489585"/>
          </a:xfrm>
          <a:prstGeom prst="flowChartAlternateProcess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localAddress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1" name="流程图: 可选过程 20"/>
          <p:cNvSpPr/>
          <p:nvPr/>
        </p:nvSpPr>
        <p:spPr>
          <a:xfrm>
            <a:off x="1225931" y="4512172"/>
            <a:ext cx="1208405" cy="489585"/>
          </a:xfrm>
          <a:prstGeom prst="flowChartAlternateProcess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receiveport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2" name="流程图: 可选过程 21"/>
          <p:cNvSpPr/>
          <p:nvPr/>
        </p:nvSpPr>
        <p:spPr>
          <a:xfrm>
            <a:off x="5528056" y="4484867"/>
            <a:ext cx="1204595" cy="489585"/>
          </a:xfrm>
          <a:prstGeom prst="flowChartAlternateProcess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remoteport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左右箭头 22"/>
          <p:cNvSpPr/>
          <p:nvPr/>
        </p:nvSpPr>
        <p:spPr>
          <a:xfrm>
            <a:off x="3588131" y="4663302"/>
            <a:ext cx="1025525" cy="187325"/>
          </a:xfrm>
          <a:prstGeom prst="leftRightArrow">
            <a:avLst/>
          </a:prstGeom>
          <a:solidFill>
            <a:srgbClr val="3A6BBF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59206" y="3393937"/>
            <a:ext cx="2211070" cy="2051050"/>
          </a:xfrm>
          <a:prstGeom prst="rect">
            <a:avLst/>
          </a:prstGeom>
          <a:noFill/>
          <a:ln w="28575" cmpd="sng">
            <a:solidFill>
              <a:srgbClr val="0070C0"/>
            </a:solidFill>
            <a:prstDash val="solid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125466" y="3393937"/>
            <a:ext cx="2211070" cy="2051050"/>
          </a:xfrm>
          <a:prstGeom prst="rect">
            <a:avLst/>
          </a:prstGeom>
          <a:noFill/>
          <a:ln w="28575" cmpd="sng">
            <a:solidFill>
              <a:srgbClr val="0070C0"/>
            </a:solidFill>
            <a:prstDash val="solid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83995" y="5624692"/>
            <a:ext cx="1692275" cy="4953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283581" y="5624692"/>
            <a:ext cx="2050415" cy="49847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MWorks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配置</a:t>
            </a:r>
            <a:r>
              <a:rPr lang="en-US" altLang="zh-CN" dirty="0" smtClean="0"/>
              <a:t>PE</a:t>
            </a:r>
            <a:r>
              <a:rPr lang="zh-CN" altLang="en-US" dirty="0" smtClean="0"/>
              <a:t>端通信协议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4688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453085" y="3229699"/>
            <a:ext cx="3570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UDP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通信应用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  <p:sp>
        <p:nvSpPr>
          <p:cNvPr id="5" name="文本框 5"/>
          <p:cNvSpPr txBox="1"/>
          <p:nvPr/>
        </p:nvSpPr>
        <p:spPr>
          <a:xfrm>
            <a:off x="3367643" y="2921168"/>
            <a:ext cx="9957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i="1" dirty="0">
                <a:solidFill>
                  <a:srgbClr val="2E4052"/>
                </a:solidFill>
                <a:cs typeface="+mn-ea"/>
                <a:sym typeface="+mn-lt"/>
              </a:rPr>
              <a:t>03</a:t>
            </a:r>
            <a:endParaRPr lang="zh-CN" altLang="en-US" sz="6000" i="1" dirty="0">
              <a:solidFill>
                <a:srgbClr val="2E4052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168310" y="2722156"/>
            <a:ext cx="1413688" cy="1413688"/>
          </a:xfrm>
          <a:prstGeom prst="ellipse">
            <a:avLst/>
          </a:prstGeom>
          <a:noFill/>
          <a:ln>
            <a:solidFill>
              <a:schemeClr val="bg1">
                <a:lumMod val="65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168310" y="2722156"/>
            <a:ext cx="1413688" cy="1413688"/>
          </a:xfrm>
          <a:prstGeom prst="ellipse">
            <a:avLst/>
          </a:prstGeom>
          <a:noFill/>
          <a:ln>
            <a:solidFill>
              <a:srgbClr val="3A6B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50614" y="3167389"/>
            <a:ext cx="45719" cy="769442"/>
          </a:xfrm>
          <a:prstGeom prst="rect">
            <a:avLst/>
          </a:prstGeom>
          <a:solidFill>
            <a:srgbClr val="3A6B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487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45" y="1022668"/>
            <a:ext cx="10328910" cy="4812665"/>
          </a:xfrm>
          <a:prstGeom prst="rect">
            <a:avLst/>
          </a:prstGeom>
          <a:effectLst/>
        </p:spPr>
      </p:pic>
      <p:sp>
        <p:nvSpPr>
          <p:cNvPr id="4" name="文本框 3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 smtClean="0"/>
              <a:t>变量映射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9557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1c6e03795487bfc841e8484401101a">
            <a:hlinkClick r:id="" action="ppaction://media"/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43512" y="773884"/>
            <a:ext cx="9687560" cy="54495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963" y="99100"/>
            <a:ext cx="11857037" cy="480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 smtClean="0"/>
              <a:t>UDP</a:t>
            </a:r>
            <a:r>
              <a:rPr lang="zh-CN" altLang="en-US" dirty="0" smtClean="0"/>
              <a:t>通信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95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1473B757-9D0C-4144-B913-DF43D0196110}"/>
              </a:ext>
            </a:extLst>
          </p:cNvPr>
          <p:cNvSpPr/>
          <p:nvPr/>
        </p:nvSpPr>
        <p:spPr>
          <a:xfrm>
            <a:off x="3877799" y="3067391"/>
            <a:ext cx="510909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培训教程第六讲：</a:t>
            </a:r>
            <a:r>
              <a:rPr lang="zh-CN" altLang="en-US" sz="3200" b="1" dirty="0" smtClean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数据驱动</a:t>
            </a:r>
            <a:endParaRPr lang="en-US" altLang="zh-CN" sz="3200" b="1" dirty="0" smtClean="0">
              <a:solidFill>
                <a:srgbClr val="5B9BD5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dirty="0" smtClean="0">
                <a:solidFill>
                  <a:srgbClr val="5B9BD5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END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TQwMzc2NTFhMTI1ZThkNDk2NDlhMzU2YWFhMWZmMzkifQ=="/>
</p:tagLst>
</file>

<file path=ppt/theme/theme1.xml><?xml version="1.0" encoding="utf-8"?>
<a:theme xmlns:a="http://schemas.openxmlformats.org/drawingml/2006/main" name="同元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25000"/>
          </a:lnSpc>
          <a:defRPr sz="1600" dirty="0" smtClean="0">
            <a:latin typeface="等线" panose="02010600030101010101" pitchFamily="2" charset="-122"/>
            <a:ea typeface="等线" panose="0201060003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同元</Template>
  <TotalTime>11</TotalTime>
  <Words>214</Words>
  <Application>Microsoft Office PowerPoint</Application>
  <PresentationFormat>宽屏</PresentationFormat>
  <Paragraphs>39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Microsoft YaHei UI</vt:lpstr>
      <vt:lpstr>等线</vt:lpstr>
      <vt:lpstr>宋体</vt:lpstr>
      <vt:lpstr>微软雅黑</vt:lpstr>
      <vt:lpstr>Arial</vt:lpstr>
      <vt:lpstr>Calibri</vt:lpstr>
      <vt:lpstr>Calibri Light</vt:lpstr>
      <vt:lpstr>Times New Roman</vt:lpstr>
      <vt:lpstr>同元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Organization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Windows 用户</cp:lastModifiedBy>
  <cp:revision>7</cp:revision>
  <dcterms:created xsi:type="dcterms:W3CDTF">2024-09-03T02:54:00Z</dcterms:created>
  <dcterms:modified xsi:type="dcterms:W3CDTF">2024-09-13T03:03:20Z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6CF5E696A18B46A5B26D44B2B828DD32_12</vt:lpwstr>
  </property>
  <property fmtid="{D5CDD505-2E9C-101B-9397-08002B2CF9AE}" pid="3" name="KSOProductBuildVer">
    <vt:lpwstr>2052-12.1.0.17827</vt:lpwstr>
  </property>
</Properties>
</file>