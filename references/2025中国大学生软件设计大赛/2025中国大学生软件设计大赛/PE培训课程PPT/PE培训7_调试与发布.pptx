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0" r:id="rId2"/>
    <p:sldId id="256" r:id="rId3"/>
    <p:sldId id="261" r:id="rId4"/>
    <p:sldId id="257" r:id="rId5"/>
    <p:sldId id="262" r:id="rId6"/>
    <p:sldId id="263" r:id="rId7"/>
    <p:sldId id="264" r:id="rId8"/>
    <p:sldId id="265" r:id="rId9"/>
    <p:sldId id="267" r:id="rId10"/>
    <p:sldId id="266" r:id="rId11"/>
    <p:sldId id="269" r:id="rId12"/>
    <p:sldId id="268" r:id="rId13"/>
    <p:sldId id="259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24263-D71B-4AE1-B0A9-AEFCF8CBFD27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F2735-ABE6-48FF-A6FD-15A0F7C99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68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6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0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4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15" name="直接连接符 14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91794" y="4861467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苏州同元软控信息技术有限公司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91558" y="5703565"/>
            <a:ext cx="2008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sz="2800" b="1" dirty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64"/>
          <a:stretch>
            <a:fillRect/>
          </a:stretch>
        </p:blipFill>
        <p:spPr bwMode="auto">
          <a:xfrm>
            <a:off x="3105150" y="4861467"/>
            <a:ext cx="628649" cy="46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617487"/>
            <a:ext cx="12192000" cy="17724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0" y="2110120"/>
            <a:ext cx="12192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PostEngineer</a:t>
            </a:r>
            <a:r>
              <a:rPr kumimoji="0" lang="en-US" altLang="zh-CN" sz="3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培训教程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</a:t>
            </a:r>
            <a:endParaRPr kumimoji="0" lang="en-US" altLang="zh-CN" sz="28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-1" y="2809906"/>
            <a:ext cx="12192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第七讲 调试与发布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837875" y="2319054"/>
            <a:ext cx="2217353" cy="2217353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681296" y="2162475"/>
            <a:ext cx="2530511" cy="2530511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681296" y="2162475"/>
            <a:ext cx="2530511" cy="2530511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378401" y="1859580"/>
            <a:ext cx="3136300" cy="3136300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10561" y="2764007"/>
            <a:ext cx="2071979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目录</a:t>
            </a:r>
            <a:endParaRPr lang="en-US" altLang="zh-CN" sz="48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0669" y="2483160"/>
            <a:ext cx="1640246" cy="1842935"/>
            <a:chOff x="1997035" y="2290189"/>
            <a:chExt cx="1640246" cy="1842935"/>
          </a:xfrm>
        </p:grpSpPr>
        <p:sp>
          <p:nvSpPr>
            <p:cNvPr id="23" name="椭圆 22"/>
            <p:cNvSpPr/>
            <p:nvPr/>
          </p:nvSpPr>
          <p:spPr>
            <a:xfrm>
              <a:off x="1997035" y="3945759"/>
              <a:ext cx="187365" cy="187365"/>
            </a:xfrm>
            <a:prstGeom prst="ellipse">
              <a:avLst/>
            </a:prstGeom>
            <a:solidFill>
              <a:srgbClr val="3A6B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3484683" y="2290189"/>
              <a:ext cx="152598" cy="1525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5" name="直接连接符 24"/>
            <p:cNvCxnSpPr>
              <a:stCxn id="24" idx="3"/>
              <a:endCxn id="23" idx="7"/>
            </p:cNvCxnSpPr>
            <p:nvPr/>
          </p:nvCxnSpPr>
          <p:spPr>
            <a:xfrm flipH="1">
              <a:off x="2156961" y="2420440"/>
              <a:ext cx="1350069" cy="1552758"/>
            </a:xfrm>
            <a:prstGeom prst="line">
              <a:avLst/>
            </a:prstGeom>
            <a:ln>
              <a:solidFill>
                <a:schemeClr val="bg1">
                  <a:alpha val="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2265915" y="3525617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ONTENTS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8120" y="1911075"/>
            <a:ext cx="172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项目调试</a:t>
            </a:r>
          </a:p>
        </p:txBody>
      </p:sp>
      <p:sp>
        <p:nvSpPr>
          <p:cNvPr id="12" name="文本框 12"/>
          <p:cNvSpPr txBox="1"/>
          <p:nvPr/>
        </p:nvSpPr>
        <p:spPr>
          <a:xfrm>
            <a:off x="5106855" y="1923415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3"/>
          <p:cNvSpPr txBox="1"/>
          <p:nvPr/>
        </p:nvSpPr>
        <p:spPr>
          <a:xfrm>
            <a:off x="6338120" y="3134360"/>
            <a:ext cx="282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项目发布</a:t>
            </a:r>
          </a:p>
        </p:txBody>
      </p:sp>
      <p:sp>
        <p:nvSpPr>
          <p:cNvPr id="14" name="矩形 13"/>
          <p:cNvSpPr/>
          <p:nvPr/>
        </p:nvSpPr>
        <p:spPr>
          <a:xfrm>
            <a:off x="6318434" y="3526155"/>
            <a:ext cx="4291965" cy="3124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项目发布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项目安装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</a:p>
        </p:txBody>
      </p:sp>
      <p:sp>
        <p:nvSpPr>
          <p:cNvPr id="15" name="文本框 15"/>
          <p:cNvSpPr txBox="1"/>
          <p:nvPr/>
        </p:nvSpPr>
        <p:spPr>
          <a:xfrm>
            <a:off x="5106855" y="3046730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6338120" y="4257675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运行环境</a:t>
            </a:r>
          </a:p>
        </p:txBody>
      </p:sp>
      <p:sp>
        <p:nvSpPr>
          <p:cNvPr id="17" name="文本框 18"/>
          <p:cNvSpPr txBox="1"/>
          <p:nvPr/>
        </p:nvSpPr>
        <p:spPr>
          <a:xfrm>
            <a:off x="5106855" y="4169410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068755" y="1858010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068755" y="2983865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068755" y="4109085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18435" y="4636135"/>
            <a:ext cx="4495165" cy="3124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运行环境要求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318433" y="2323305"/>
            <a:ext cx="4291965" cy="3124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调试窗口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pro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命令行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f8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查看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50939" y="3080729"/>
            <a:ext cx="22777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项目调试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2887454" y="2921168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01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68812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8812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7042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53489" y="3552110"/>
            <a:ext cx="4550390" cy="3492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调试窗口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pro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命令行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f8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查看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775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36" y="1623539"/>
            <a:ext cx="4437002" cy="254190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193" y="1623539"/>
            <a:ext cx="6781487" cy="3627923"/>
          </a:xfrm>
          <a:prstGeom prst="rect">
            <a:avLst/>
          </a:prstGeom>
        </p:spPr>
      </p:pic>
      <p:sp>
        <p:nvSpPr>
          <p:cNvPr id="5" name="文本框 12"/>
          <p:cNvSpPr txBox="1"/>
          <p:nvPr/>
        </p:nvSpPr>
        <p:spPr>
          <a:xfrm>
            <a:off x="350452" y="886506"/>
            <a:ext cx="11177627" cy="40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在菜单栏中点击调试：识别、定位和修复软件中的错误与问题，确保开发软件质量和效果。</a:t>
            </a:r>
            <a:endParaRPr lang="en-US" altLang="zh-CN" sz="18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61501" y="5507853"/>
            <a:ext cx="2050415" cy="4984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系统调试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调试窗口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3389789" y="1000476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074319" y="537561"/>
            <a:ext cx="1092835" cy="1092835"/>
            <a:chOff x="6372" y="2660"/>
            <a:chExt cx="2160" cy="2160"/>
          </a:xfrm>
        </p:grpSpPr>
        <p:sp>
          <p:nvSpPr>
            <p:cNvPr id="19" name="椭圆 18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椭圆 19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图标7"/>
          <p:cNvSpPr>
            <a:spLocks noEditPoints="1"/>
          </p:cNvSpPr>
          <p:nvPr/>
        </p:nvSpPr>
        <p:spPr bwMode="auto">
          <a:xfrm>
            <a:off x="4376579" y="770606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文本框 31"/>
          <p:cNvSpPr txBox="1"/>
          <p:nvPr/>
        </p:nvSpPr>
        <p:spPr>
          <a:xfrm>
            <a:off x="3563144" y="1825976"/>
            <a:ext cx="2115820" cy="10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正式调试项目之前，在项目开发过程中，可以打开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PE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中的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“pro”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窗口进行调试，查看效果。</a:t>
            </a:r>
          </a:p>
        </p:txBody>
      </p:sp>
      <p:sp>
        <p:nvSpPr>
          <p:cNvPr id="6" name="平行四边形 5"/>
          <p:cNvSpPr/>
          <p:nvPr/>
        </p:nvSpPr>
        <p:spPr>
          <a:xfrm>
            <a:off x="6627019" y="1000476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311549" y="537561"/>
            <a:ext cx="1092835" cy="1092835"/>
            <a:chOff x="6372" y="2660"/>
            <a:chExt cx="2160" cy="2160"/>
          </a:xfrm>
        </p:grpSpPr>
        <p:sp>
          <p:nvSpPr>
            <p:cNvPr id="17" name="椭圆 16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8" name="图标7"/>
          <p:cNvSpPr>
            <a:spLocks noEditPoints="1"/>
          </p:cNvSpPr>
          <p:nvPr/>
        </p:nvSpPr>
        <p:spPr bwMode="auto">
          <a:xfrm>
            <a:off x="7613809" y="770606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文本框 21"/>
          <p:cNvSpPr txBox="1"/>
          <p:nvPr/>
        </p:nvSpPr>
        <p:spPr>
          <a:xfrm>
            <a:off x="6800374" y="1825976"/>
            <a:ext cx="211582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在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“pro”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窗口中写下相关的函数内容，就能在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pe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的编辑模式下直接观察该模型的运行状态。</a:t>
            </a:r>
          </a:p>
        </p:txBody>
      </p:sp>
      <p:sp>
        <p:nvSpPr>
          <p:cNvPr id="10" name="横卷形 9"/>
          <p:cNvSpPr/>
          <p:nvPr/>
        </p:nvSpPr>
        <p:spPr>
          <a:xfrm>
            <a:off x="761894" y="1401796"/>
            <a:ext cx="1964690" cy="1402080"/>
          </a:xfrm>
          <a:prstGeom prst="horizontalScroll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横卷形 10"/>
          <p:cNvSpPr/>
          <p:nvPr/>
        </p:nvSpPr>
        <p:spPr>
          <a:xfrm>
            <a:off x="9428303" y="1401796"/>
            <a:ext cx="1964690" cy="1402080"/>
          </a:xfrm>
          <a:prstGeom prst="horizontalScroll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26"/>
          <p:cNvSpPr txBox="1"/>
          <p:nvPr/>
        </p:nvSpPr>
        <p:spPr>
          <a:xfrm>
            <a:off x="1008909" y="1919321"/>
            <a:ext cx="1470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运行</a:t>
            </a:r>
            <a:r>
              <a:rPr lang="en-US" altLang="zh-CN">
                <a:solidFill>
                  <a:schemeClr val="bg1"/>
                </a:solidFill>
              </a:rPr>
              <a:t>pro</a:t>
            </a:r>
            <a:r>
              <a:rPr lang="zh-CN" altLang="en-US">
                <a:solidFill>
                  <a:schemeClr val="bg1"/>
                </a:solidFill>
              </a:rPr>
              <a:t>窗口</a:t>
            </a:r>
          </a:p>
        </p:txBody>
      </p:sp>
      <p:sp>
        <p:nvSpPr>
          <p:cNvPr id="13" name="文本框 27"/>
          <p:cNvSpPr txBox="1"/>
          <p:nvPr/>
        </p:nvSpPr>
        <p:spPr>
          <a:xfrm>
            <a:off x="9688018" y="1919321"/>
            <a:ext cx="1577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编写函数测试</a:t>
            </a:r>
          </a:p>
        </p:txBody>
      </p:sp>
      <p:sp>
        <p:nvSpPr>
          <p:cNvPr id="14" name="右箭头 13"/>
          <p:cNvSpPr/>
          <p:nvPr/>
        </p:nvSpPr>
        <p:spPr>
          <a:xfrm>
            <a:off x="5918349" y="4810895"/>
            <a:ext cx="576580" cy="221615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54" y="3477871"/>
            <a:ext cx="4809881" cy="284256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19" y="3425078"/>
            <a:ext cx="4803087" cy="284924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p</a:t>
            </a:r>
            <a:r>
              <a:rPr lang="en-US" altLang="zh-CN" dirty="0" smtClean="0"/>
              <a:t>ro</a:t>
            </a:r>
            <a:r>
              <a:rPr lang="zh-CN" altLang="en-US" dirty="0" smtClean="0"/>
              <a:t>命令行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00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3375978" y="4112520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060508" y="3649605"/>
            <a:ext cx="1092835" cy="1092835"/>
            <a:chOff x="6372" y="2660"/>
            <a:chExt cx="2160" cy="2160"/>
          </a:xfrm>
        </p:grpSpPr>
        <p:sp>
          <p:nvSpPr>
            <p:cNvPr id="19" name="椭圆 18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" name="椭圆 19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图标7"/>
          <p:cNvSpPr>
            <a:spLocks noEditPoints="1"/>
          </p:cNvSpPr>
          <p:nvPr/>
        </p:nvSpPr>
        <p:spPr bwMode="auto">
          <a:xfrm>
            <a:off x="4362768" y="3882650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文本框 31"/>
          <p:cNvSpPr txBox="1"/>
          <p:nvPr/>
        </p:nvSpPr>
        <p:spPr>
          <a:xfrm>
            <a:off x="3549333" y="4938020"/>
            <a:ext cx="2115820" cy="10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正式调试项目之前，在项目开发过程中，可以打开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PE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中的</a:t>
            </a:r>
            <a:r>
              <a:rPr lang="en-US" altLang="zh-CN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“pro”</a:t>
            </a:r>
            <a:r>
              <a:rPr lang="zh-CN" altLang="en-US"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窗口进行调试，查看效果。</a:t>
            </a:r>
          </a:p>
        </p:txBody>
      </p:sp>
      <p:sp>
        <p:nvSpPr>
          <p:cNvPr id="6" name="右箭头 5"/>
          <p:cNvSpPr/>
          <p:nvPr/>
        </p:nvSpPr>
        <p:spPr>
          <a:xfrm>
            <a:off x="5840413" y="2044067"/>
            <a:ext cx="576580" cy="221615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6613208" y="4112520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297738" y="3649605"/>
            <a:ext cx="1092835" cy="1092835"/>
            <a:chOff x="6372" y="2660"/>
            <a:chExt cx="2160" cy="2160"/>
          </a:xfrm>
        </p:grpSpPr>
        <p:sp>
          <p:nvSpPr>
            <p:cNvPr id="17" name="椭圆 16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图标7"/>
          <p:cNvSpPr>
            <a:spLocks noEditPoints="1"/>
          </p:cNvSpPr>
          <p:nvPr/>
        </p:nvSpPr>
        <p:spPr bwMode="auto">
          <a:xfrm>
            <a:off x="7599998" y="3882650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文本框 21"/>
          <p:cNvSpPr txBox="1"/>
          <p:nvPr/>
        </p:nvSpPr>
        <p:spPr>
          <a:xfrm>
            <a:off x="6786563" y="4938020"/>
            <a:ext cx="211582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在</a:t>
            </a:r>
            <a:r>
              <a:rPr lang="en-US" altLang="zh-CN"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“pro”</a:t>
            </a:r>
            <a:r>
              <a:rPr lang="zh-CN" altLang="en-US"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窗口中写下相关的函数内容，就能在</a:t>
            </a:r>
            <a:r>
              <a:rPr lang="en-US" altLang="zh-CN"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pe</a:t>
            </a:r>
            <a:r>
              <a:rPr lang="zh-CN" altLang="en-US"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的编辑模式下直接观察该模型的运行状态。</a:t>
            </a:r>
          </a:p>
        </p:txBody>
      </p:sp>
      <p:sp>
        <p:nvSpPr>
          <p:cNvPr id="11" name="横卷形 10"/>
          <p:cNvSpPr/>
          <p:nvPr/>
        </p:nvSpPr>
        <p:spPr>
          <a:xfrm>
            <a:off x="545783" y="4667054"/>
            <a:ext cx="1964690" cy="1402080"/>
          </a:xfrm>
          <a:prstGeom prst="horizontalScroll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横卷形 11"/>
          <p:cNvSpPr/>
          <p:nvPr/>
        </p:nvSpPr>
        <p:spPr>
          <a:xfrm>
            <a:off x="9669463" y="4667054"/>
            <a:ext cx="1964690" cy="1402080"/>
          </a:xfrm>
          <a:prstGeom prst="horizontalScroll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26"/>
          <p:cNvSpPr txBox="1"/>
          <p:nvPr/>
        </p:nvSpPr>
        <p:spPr>
          <a:xfrm>
            <a:off x="792798" y="5184579"/>
            <a:ext cx="1470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运行</a:t>
            </a:r>
            <a:r>
              <a:rPr lang="en-US" altLang="zh-CN" dirty="0">
                <a:solidFill>
                  <a:schemeClr val="bg1"/>
                </a:solidFill>
              </a:rPr>
              <a:t>pro</a:t>
            </a:r>
            <a:r>
              <a:rPr lang="zh-CN" altLang="en-US" dirty="0">
                <a:solidFill>
                  <a:schemeClr val="bg1"/>
                </a:solidFill>
              </a:rPr>
              <a:t>窗口</a:t>
            </a:r>
          </a:p>
        </p:txBody>
      </p:sp>
      <p:sp>
        <p:nvSpPr>
          <p:cNvPr id="14" name="文本框 27"/>
          <p:cNvSpPr txBox="1"/>
          <p:nvPr/>
        </p:nvSpPr>
        <p:spPr>
          <a:xfrm>
            <a:off x="9929178" y="5184579"/>
            <a:ext cx="1577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编写函数测试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82" y="802258"/>
            <a:ext cx="4582881" cy="270841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743" y="802258"/>
            <a:ext cx="4560326" cy="270523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p</a:t>
            </a:r>
            <a:r>
              <a:rPr lang="en-US" altLang="zh-CN" dirty="0" smtClean="0"/>
              <a:t>ro</a:t>
            </a:r>
            <a:r>
              <a:rPr lang="zh-CN" altLang="en-US" dirty="0" smtClean="0"/>
              <a:t>命令行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8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/>
        </p:nvSpPr>
        <p:spPr>
          <a:xfrm>
            <a:off x="1633855" y="4054113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318385" y="3591198"/>
            <a:ext cx="1092835" cy="1092835"/>
            <a:chOff x="6372" y="2660"/>
            <a:chExt cx="2160" cy="2160"/>
          </a:xfrm>
        </p:grpSpPr>
        <p:sp>
          <p:nvSpPr>
            <p:cNvPr id="16" name="椭圆 15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椭圆 16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图标7"/>
          <p:cNvSpPr>
            <a:spLocks noEditPoints="1"/>
          </p:cNvSpPr>
          <p:nvPr/>
        </p:nvSpPr>
        <p:spPr bwMode="auto">
          <a:xfrm>
            <a:off x="2620645" y="3824243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文本框 31"/>
          <p:cNvSpPr txBox="1"/>
          <p:nvPr/>
        </p:nvSpPr>
        <p:spPr>
          <a:xfrm>
            <a:off x="1807210" y="4879613"/>
            <a:ext cx="211582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sz="1200" dirty="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在需要断开调试的地方写入pause(string msg)，其中msg字符串会显示在断点窗口上。</a:t>
            </a:r>
          </a:p>
        </p:txBody>
      </p:sp>
      <p:sp>
        <p:nvSpPr>
          <p:cNvPr id="6" name="右箭头 5"/>
          <p:cNvSpPr/>
          <p:nvPr/>
        </p:nvSpPr>
        <p:spPr>
          <a:xfrm>
            <a:off x="5760560" y="1884591"/>
            <a:ext cx="576580" cy="221615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8103870" y="4054113"/>
            <a:ext cx="2371725" cy="2205355"/>
          </a:xfrm>
          <a:prstGeom prst="parallelogram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788400" y="3591198"/>
            <a:ext cx="1092835" cy="1092835"/>
            <a:chOff x="6372" y="2660"/>
            <a:chExt cx="2160" cy="2160"/>
          </a:xfrm>
        </p:grpSpPr>
        <p:sp>
          <p:nvSpPr>
            <p:cNvPr id="14" name="椭圆 13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5" name="椭圆 14"/>
            <p:cNvSpPr>
              <a:spLocks noChangeAspect="1"/>
            </p:cNvSpPr>
            <p:nvPr/>
          </p:nvSpPr>
          <p:spPr>
            <a:xfrm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图标7"/>
          <p:cNvSpPr>
            <a:spLocks noEditPoints="1"/>
          </p:cNvSpPr>
          <p:nvPr/>
        </p:nvSpPr>
        <p:spPr bwMode="auto">
          <a:xfrm>
            <a:off x="9090660" y="3824243"/>
            <a:ext cx="566420" cy="550545"/>
          </a:xfrm>
          <a:custGeom>
            <a:avLst/>
            <a:gdLst>
              <a:gd name="T0" fmla="*/ 134 w 153"/>
              <a:gd name="T1" fmla="*/ 70 h 149"/>
              <a:gd name="T2" fmla="*/ 131 w 153"/>
              <a:gd name="T3" fmla="*/ 73 h 149"/>
              <a:gd name="T4" fmla="*/ 131 w 153"/>
              <a:gd name="T5" fmla="*/ 143 h 149"/>
              <a:gd name="T6" fmla="*/ 6 w 153"/>
              <a:gd name="T7" fmla="*/ 143 h 149"/>
              <a:gd name="T8" fmla="*/ 6 w 153"/>
              <a:gd name="T9" fmla="*/ 18 h 149"/>
              <a:gd name="T10" fmla="*/ 85 w 153"/>
              <a:gd name="T11" fmla="*/ 18 h 149"/>
              <a:gd name="T12" fmla="*/ 88 w 153"/>
              <a:gd name="T13" fmla="*/ 15 h 149"/>
              <a:gd name="T14" fmla="*/ 85 w 153"/>
              <a:gd name="T15" fmla="*/ 12 h 149"/>
              <a:gd name="T16" fmla="*/ 3 w 153"/>
              <a:gd name="T17" fmla="*/ 12 h 149"/>
              <a:gd name="T18" fmla="*/ 0 w 153"/>
              <a:gd name="T19" fmla="*/ 15 h 149"/>
              <a:gd name="T20" fmla="*/ 0 w 153"/>
              <a:gd name="T21" fmla="*/ 146 h 149"/>
              <a:gd name="T22" fmla="*/ 3 w 153"/>
              <a:gd name="T23" fmla="*/ 149 h 149"/>
              <a:gd name="T24" fmla="*/ 134 w 153"/>
              <a:gd name="T25" fmla="*/ 149 h 149"/>
              <a:gd name="T26" fmla="*/ 137 w 153"/>
              <a:gd name="T27" fmla="*/ 146 h 149"/>
              <a:gd name="T28" fmla="*/ 137 w 153"/>
              <a:gd name="T29" fmla="*/ 73 h 149"/>
              <a:gd name="T30" fmla="*/ 134 w 153"/>
              <a:gd name="T31" fmla="*/ 70 h 149"/>
              <a:gd name="T32" fmla="*/ 134 w 153"/>
              <a:gd name="T33" fmla="*/ 8 h 149"/>
              <a:gd name="T34" fmla="*/ 117 w 153"/>
              <a:gd name="T35" fmla="*/ 0 h 149"/>
              <a:gd name="T36" fmla="*/ 108 w 153"/>
              <a:gd name="T37" fmla="*/ 5 h 149"/>
              <a:gd name="T38" fmla="*/ 108 w 153"/>
              <a:gd name="T39" fmla="*/ 6 h 149"/>
              <a:gd name="T40" fmla="*/ 105 w 153"/>
              <a:gd name="T41" fmla="*/ 10 h 149"/>
              <a:gd name="T42" fmla="*/ 68 w 153"/>
              <a:gd name="T43" fmla="*/ 64 h 149"/>
              <a:gd name="T44" fmla="*/ 67 w 153"/>
              <a:gd name="T45" fmla="*/ 65 h 149"/>
              <a:gd name="T46" fmla="*/ 65 w 153"/>
              <a:gd name="T47" fmla="*/ 100 h 149"/>
              <a:gd name="T48" fmla="*/ 67 w 153"/>
              <a:gd name="T49" fmla="*/ 103 h 149"/>
              <a:gd name="T50" fmla="*/ 68 w 153"/>
              <a:gd name="T51" fmla="*/ 103 h 149"/>
              <a:gd name="T52" fmla="*/ 69 w 153"/>
              <a:gd name="T53" fmla="*/ 103 h 149"/>
              <a:gd name="T54" fmla="*/ 104 w 153"/>
              <a:gd name="T55" fmla="*/ 91 h 149"/>
              <a:gd name="T56" fmla="*/ 105 w 153"/>
              <a:gd name="T57" fmla="*/ 90 h 149"/>
              <a:gd name="T58" fmla="*/ 141 w 153"/>
              <a:gd name="T59" fmla="*/ 39 h 149"/>
              <a:gd name="T60" fmla="*/ 142 w 153"/>
              <a:gd name="T61" fmla="*/ 36 h 149"/>
              <a:gd name="T62" fmla="*/ 146 w 153"/>
              <a:gd name="T63" fmla="*/ 32 h 149"/>
              <a:gd name="T64" fmla="*/ 146 w 153"/>
              <a:gd name="T65" fmla="*/ 31 h 149"/>
              <a:gd name="T66" fmla="*/ 134 w 153"/>
              <a:gd name="T67" fmla="*/ 8 h 149"/>
              <a:gd name="T68" fmla="*/ 72 w 153"/>
              <a:gd name="T69" fmla="*/ 96 h 149"/>
              <a:gd name="T70" fmla="*/ 73 w 153"/>
              <a:gd name="T71" fmla="*/ 69 h 149"/>
              <a:gd name="T72" fmla="*/ 79 w 153"/>
              <a:gd name="T73" fmla="*/ 74 h 149"/>
              <a:gd name="T74" fmla="*/ 81 w 153"/>
              <a:gd name="T75" fmla="*/ 76 h 149"/>
              <a:gd name="T76" fmla="*/ 89 w 153"/>
              <a:gd name="T77" fmla="*/ 82 h 149"/>
              <a:gd name="T78" fmla="*/ 91 w 153"/>
              <a:gd name="T79" fmla="*/ 84 h 149"/>
              <a:gd name="T80" fmla="*/ 97 w 153"/>
              <a:gd name="T81" fmla="*/ 87 h 149"/>
              <a:gd name="T82" fmla="*/ 72 w 153"/>
              <a:gd name="T83" fmla="*/ 96 h 149"/>
              <a:gd name="T84" fmla="*/ 102 w 153"/>
              <a:gd name="T85" fmla="*/ 84 h 149"/>
              <a:gd name="T86" fmla="*/ 94 w 153"/>
              <a:gd name="T87" fmla="*/ 78 h 149"/>
              <a:gd name="T88" fmla="*/ 84 w 153"/>
              <a:gd name="T89" fmla="*/ 71 h 149"/>
              <a:gd name="T90" fmla="*/ 75 w 153"/>
              <a:gd name="T91" fmla="*/ 63 h 149"/>
              <a:gd name="T92" fmla="*/ 108 w 153"/>
              <a:gd name="T93" fmla="*/ 16 h 149"/>
              <a:gd name="T94" fmla="*/ 108 w 153"/>
              <a:gd name="T95" fmla="*/ 15 h 149"/>
              <a:gd name="T96" fmla="*/ 124 w 153"/>
              <a:gd name="T97" fmla="*/ 22 h 149"/>
              <a:gd name="T98" fmla="*/ 136 w 153"/>
              <a:gd name="T99" fmla="*/ 34 h 149"/>
              <a:gd name="T100" fmla="*/ 102 w 153"/>
              <a:gd name="T101" fmla="*/ 84 h 149"/>
              <a:gd name="T102" fmla="*/ 141 w 153"/>
              <a:gd name="T103" fmla="*/ 28 h 149"/>
              <a:gd name="T104" fmla="*/ 141 w 153"/>
              <a:gd name="T105" fmla="*/ 28 h 149"/>
              <a:gd name="T106" fmla="*/ 140 w 153"/>
              <a:gd name="T107" fmla="*/ 29 h 149"/>
              <a:gd name="T108" fmla="*/ 128 w 153"/>
              <a:gd name="T109" fmla="*/ 17 h 149"/>
              <a:gd name="T110" fmla="*/ 112 w 153"/>
              <a:gd name="T111" fmla="*/ 10 h 149"/>
              <a:gd name="T112" fmla="*/ 112 w 153"/>
              <a:gd name="T113" fmla="*/ 10 h 149"/>
              <a:gd name="T114" fmla="*/ 113 w 153"/>
              <a:gd name="T115" fmla="*/ 9 h 149"/>
              <a:gd name="T116" fmla="*/ 117 w 153"/>
              <a:gd name="T117" fmla="*/ 6 h 149"/>
              <a:gd name="T118" fmla="*/ 130 w 153"/>
              <a:gd name="T119" fmla="*/ 13 h 149"/>
              <a:gd name="T120" fmla="*/ 141 w 153"/>
              <a:gd name="T121" fmla="*/ 28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3" h="149">
                <a:moveTo>
                  <a:pt x="134" y="70"/>
                </a:moveTo>
                <a:cubicBezTo>
                  <a:pt x="133" y="70"/>
                  <a:pt x="131" y="72"/>
                  <a:pt x="131" y="73"/>
                </a:cubicBezTo>
                <a:cubicBezTo>
                  <a:pt x="131" y="143"/>
                  <a:pt x="131" y="143"/>
                  <a:pt x="131" y="143"/>
                </a:cubicBezTo>
                <a:cubicBezTo>
                  <a:pt x="6" y="143"/>
                  <a:pt x="6" y="143"/>
                  <a:pt x="6" y="143"/>
                </a:cubicBezTo>
                <a:cubicBezTo>
                  <a:pt x="6" y="18"/>
                  <a:pt x="6" y="18"/>
                  <a:pt x="6" y="18"/>
                </a:cubicBezTo>
                <a:cubicBezTo>
                  <a:pt x="85" y="18"/>
                  <a:pt x="85" y="18"/>
                  <a:pt x="85" y="18"/>
                </a:cubicBezTo>
                <a:cubicBezTo>
                  <a:pt x="86" y="18"/>
                  <a:pt x="88" y="16"/>
                  <a:pt x="88" y="15"/>
                </a:cubicBezTo>
                <a:cubicBezTo>
                  <a:pt x="88" y="13"/>
                  <a:pt x="86" y="12"/>
                  <a:pt x="85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0" y="13"/>
                  <a:pt x="0" y="15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8"/>
                  <a:pt x="2" y="149"/>
                  <a:pt x="3" y="149"/>
                </a:cubicBezTo>
                <a:cubicBezTo>
                  <a:pt x="134" y="149"/>
                  <a:pt x="134" y="149"/>
                  <a:pt x="134" y="149"/>
                </a:cubicBezTo>
                <a:cubicBezTo>
                  <a:pt x="136" y="149"/>
                  <a:pt x="137" y="148"/>
                  <a:pt x="137" y="146"/>
                </a:cubicBezTo>
                <a:cubicBezTo>
                  <a:pt x="137" y="73"/>
                  <a:pt x="137" y="73"/>
                  <a:pt x="137" y="73"/>
                </a:cubicBezTo>
                <a:cubicBezTo>
                  <a:pt x="137" y="72"/>
                  <a:pt x="136" y="70"/>
                  <a:pt x="134" y="70"/>
                </a:cubicBezTo>
                <a:close/>
                <a:moveTo>
                  <a:pt x="134" y="8"/>
                </a:moveTo>
                <a:cubicBezTo>
                  <a:pt x="127" y="3"/>
                  <a:pt x="121" y="0"/>
                  <a:pt x="117" y="0"/>
                </a:cubicBezTo>
                <a:cubicBezTo>
                  <a:pt x="114" y="0"/>
                  <a:pt x="111" y="2"/>
                  <a:pt x="108" y="5"/>
                </a:cubicBezTo>
                <a:cubicBezTo>
                  <a:pt x="108" y="6"/>
                  <a:pt x="108" y="6"/>
                  <a:pt x="108" y="6"/>
                </a:cubicBezTo>
                <a:cubicBezTo>
                  <a:pt x="107" y="7"/>
                  <a:pt x="106" y="9"/>
                  <a:pt x="105" y="10"/>
                </a:cubicBezTo>
                <a:cubicBezTo>
                  <a:pt x="68" y="64"/>
                  <a:pt x="68" y="64"/>
                  <a:pt x="68" y="64"/>
                </a:cubicBezTo>
                <a:cubicBezTo>
                  <a:pt x="67" y="64"/>
                  <a:pt x="67" y="65"/>
                  <a:pt x="67" y="65"/>
                </a:cubicBezTo>
                <a:cubicBezTo>
                  <a:pt x="65" y="100"/>
                  <a:pt x="65" y="100"/>
                  <a:pt x="65" y="100"/>
                </a:cubicBezTo>
                <a:cubicBezTo>
                  <a:pt x="65" y="101"/>
                  <a:pt x="66" y="102"/>
                  <a:pt x="67" y="103"/>
                </a:cubicBezTo>
                <a:cubicBezTo>
                  <a:pt x="67" y="103"/>
                  <a:pt x="68" y="103"/>
                  <a:pt x="68" y="103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91"/>
                  <a:pt x="105" y="91"/>
                  <a:pt x="105" y="90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44" y="34"/>
                  <a:pt x="145" y="33"/>
                  <a:pt x="146" y="32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53" y="22"/>
                  <a:pt x="144" y="14"/>
                  <a:pt x="134" y="8"/>
                </a:cubicBezTo>
                <a:close/>
                <a:moveTo>
                  <a:pt x="72" y="96"/>
                </a:moveTo>
                <a:cubicBezTo>
                  <a:pt x="73" y="69"/>
                  <a:pt x="73" y="69"/>
                  <a:pt x="73" y="69"/>
                </a:cubicBezTo>
                <a:cubicBezTo>
                  <a:pt x="75" y="70"/>
                  <a:pt x="78" y="72"/>
                  <a:pt x="79" y="74"/>
                </a:cubicBezTo>
                <a:cubicBezTo>
                  <a:pt x="79" y="75"/>
                  <a:pt x="80" y="76"/>
                  <a:pt x="81" y="76"/>
                </a:cubicBezTo>
                <a:cubicBezTo>
                  <a:pt x="81" y="76"/>
                  <a:pt x="87" y="77"/>
                  <a:pt x="89" y="82"/>
                </a:cubicBezTo>
                <a:cubicBezTo>
                  <a:pt x="89" y="83"/>
                  <a:pt x="90" y="84"/>
                  <a:pt x="91" y="84"/>
                </a:cubicBezTo>
                <a:cubicBezTo>
                  <a:pt x="91" y="84"/>
                  <a:pt x="94" y="84"/>
                  <a:pt x="97" y="87"/>
                </a:cubicBezTo>
                <a:lnTo>
                  <a:pt x="72" y="96"/>
                </a:lnTo>
                <a:close/>
                <a:moveTo>
                  <a:pt x="102" y="84"/>
                </a:moveTo>
                <a:cubicBezTo>
                  <a:pt x="99" y="80"/>
                  <a:pt x="96" y="79"/>
                  <a:pt x="94" y="78"/>
                </a:cubicBezTo>
                <a:cubicBezTo>
                  <a:pt x="91" y="74"/>
                  <a:pt x="86" y="72"/>
                  <a:pt x="84" y="71"/>
                </a:cubicBezTo>
                <a:cubicBezTo>
                  <a:pt x="82" y="67"/>
                  <a:pt x="78" y="65"/>
                  <a:pt x="75" y="63"/>
                </a:cubicBezTo>
                <a:cubicBezTo>
                  <a:pt x="108" y="16"/>
                  <a:pt x="108" y="16"/>
                  <a:pt x="108" y="16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13" y="16"/>
                  <a:pt x="119" y="18"/>
                  <a:pt x="124" y="22"/>
                </a:cubicBezTo>
                <a:cubicBezTo>
                  <a:pt x="130" y="26"/>
                  <a:pt x="134" y="31"/>
                  <a:pt x="136" y="34"/>
                </a:cubicBezTo>
                <a:lnTo>
                  <a:pt x="102" y="84"/>
                </a:lnTo>
                <a:close/>
                <a:moveTo>
                  <a:pt x="141" y="28"/>
                </a:moveTo>
                <a:cubicBezTo>
                  <a:pt x="141" y="28"/>
                  <a:pt x="141" y="28"/>
                  <a:pt x="141" y="28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37" y="25"/>
                  <a:pt x="133" y="21"/>
                  <a:pt x="128" y="17"/>
                </a:cubicBezTo>
                <a:cubicBezTo>
                  <a:pt x="122" y="14"/>
                  <a:pt x="117" y="11"/>
                  <a:pt x="112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113" y="9"/>
                  <a:pt x="113" y="9"/>
                  <a:pt x="113" y="9"/>
                </a:cubicBezTo>
                <a:cubicBezTo>
                  <a:pt x="114" y="7"/>
                  <a:pt x="116" y="6"/>
                  <a:pt x="117" y="6"/>
                </a:cubicBezTo>
                <a:cubicBezTo>
                  <a:pt x="120" y="6"/>
                  <a:pt x="124" y="8"/>
                  <a:pt x="130" y="13"/>
                </a:cubicBezTo>
                <a:cubicBezTo>
                  <a:pt x="144" y="22"/>
                  <a:pt x="143" y="25"/>
                  <a:pt x="141" y="28"/>
                </a:cubicBezTo>
                <a:close/>
              </a:path>
            </a:pathLst>
          </a:custGeom>
          <a:gradFill>
            <a:gsLst>
              <a:gs pos="100000">
                <a:srgbClr val="7691A1"/>
              </a:gs>
              <a:gs pos="0">
                <a:srgbClr val="121D23"/>
              </a:gs>
            </a:gsLst>
            <a:lin ang="4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文本框 21"/>
          <p:cNvSpPr txBox="1"/>
          <p:nvPr/>
        </p:nvSpPr>
        <p:spPr>
          <a:xfrm>
            <a:off x="8277225" y="4879613"/>
            <a:ext cx="211582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sz="1200">
                <a:solidFill>
                  <a:schemeClr val="bg1"/>
                </a:solidFill>
                <a:latin typeface="黑体-简" panose="02000000000000000000" charset="-128"/>
                <a:ea typeface="黑体-简" panose="02000000000000000000" charset="-128"/>
              </a:rPr>
              <a:t>调试运行时，当运行到pause函数处，弹出断点窗口，系统暂停运行并显示所有变量的值。</a:t>
            </a:r>
          </a:p>
        </p:txBody>
      </p:sp>
      <p:pic>
        <p:nvPicPr>
          <p:cNvPr id="11" name="图片 10" descr="f350900421cdc160234657e394e368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69" y="617449"/>
            <a:ext cx="4138295" cy="2755900"/>
          </a:xfrm>
          <a:prstGeom prst="rect">
            <a:avLst/>
          </a:prstGeom>
        </p:spPr>
      </p:pic>
      <p:pic>
        <p:nvPicPr>
          <p:cNvPr id="12" name="图片 11" descr="cd47dfc353de0ca0e2690135ee2dd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837" y="671696"/>
            <a:ext cx="4330065" cy="2700020"/>
          </a:xfrm>
          <a:prstGeom prst="rect">
            <a:avLst/>
          </a:prstGeom>
        </p:spPr>
      </p:pic>
      <p:sp>
        <p:nvSpPr>
          <p:cNvPr id="13" name="矩形标注 12"/>
          <p:cNvSpPr/>
          <p:nvPr/>
        </p:nvSpPr>
        <p:spPr>
          <a:xfrm>
            <a:off x="5135880" y="4257993"/>
            <a:ext cx="1837690" cy="1330325"/>
          </a:xfrm>
          <a:prstGeom prst="wedgeRectCallout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注意！</a:t>
            </a:r>
          </a:p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发布后，pause不会被执行。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p</a:t>
            </a:r>
            <a:r>
              <a:rPr lang="en-US" altLang="zh-CN" dirty="0" smtClean="0"/>
              <a:t>ause</a:t>
            </a:r>
            <a:r>
              <a:rPr lang="zh-CN" altLang="en-US" dirty="0" smtClean="0"/>
              <a:t>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27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1" y="1006628"/>
            <a:ext cx="7725736" cy="4844744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8504102" y="1886583"/>
            <a:ext cx="3072137" cy="2417009"/>
          </a:xfrm>
          <a:prstGeom prst="ellipse">
            <a:avLst/>
          </a:prstGeom>
          <a:solidFill>
            <a:srgbClr val="3A6BBF">
              <a:alpha val="15000"/>
            </a:srgbClr>
          </a:solidFill>
          <a:ln>
            <a:solidFill>
              <a:srgbClr val="3A6BBF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8618885" y="2242385"/>
            <a:ext cx="2842569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启动项目以后，如果该项目是数据驱动的状态，按下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F8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可以查看各变量之间的状态。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smtClean="0"/>
              <a:t>F8</a:t>
            </a:r>
            <a:r>
              <a:rPr lang="zh-CN" altLang="en-US" dirty="0" smtClean="0"/>
              <a:t>查看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07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88536" y="3355857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项目发布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4025051" y="2921168"/>
            <a:ext cx="98552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02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5718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25718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8022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949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38" y="872111"/>
            <a:ext cx="5255043" cy="2624891"/>
          </a:xfrm>
          <a:prstGeom prst="rect">
            <a:avLst/>
          </a:prstGeom>
        </p:spPr>
      </p:pic>
      <p:pic>
        <p:nvPicPr>
          <p:cNvPr id="4" name="图片 3" descr="release文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668" y="3440914"/>
            <a:ext cx="5328920" cy="2840355"/>
          </a:xfrm>
          <a:prstGeom prst="rect">
            <a:avLst/>
          </a:prstGeom>
        </p:spPr>
      </p:pic>
      <p:cxnSp>
        <p:nvCxnSpPr>
          <p:cNvPr id="5" name="连接符: 肘形 18"/>
          <p:cNvCxnSpPr>
            <a:stCxn id="3" idx="2"/>
            <a:endCxn id="4" idx="1"/>
          </p:cNvCxnSpPr>
          <p:nvPr/>
        </p:nvCxnSpPr>
        <p:spPr>
          <a:xfrm rot="16200000" flipH="1">
            <a:off x="3923919" y="2687343"/>
            <a:ext cx="1364090" cy="29834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20"/>
          <p:cNvSpPr txBox="1"/>
          <p:nvPr/>
        </p:nvSpPr>
        <p:spPr>
          <a:xfrm>
            <a:off x="3311034" y="4149412"/>
            <a:ext cx="2430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rgbClr val="FF0000"/>
                </a:solidFill>
                <a:latin typeface="黑体-简" panose="02000000000000000000" charset="-128"/>
                <a:ea typeface="黑体-简" panose="02000000000000000000" charset="-128"/>
                <a:sym typeface="+mn-ea"/>
              </a:rPr>
              <a:t>一键发布成.exe文件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竖卷形 6"/>
          <p:cNvSpPr/>
          <p:nvPr/>
        </p:nvSpPr>
        <p:spPr>
          <a:xfrm>
            <a:off x="7193042" y="686070"/>
            <a:ext cx="3719831" cy="2460096"/>
          </a:xfrm>
          <a:prstGeom prst="verticalScroll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882143" y="245804"/>
            <a:ext cx="717550" cy="717550"/>
            <a:chOff x="6372" y="2660"/>
            <a:chExt cx="2160" cy="2160"/>
          </a:xfrm>
        </p:grpSpPr>
        <p:sp>
          <p:nvSpPr>
            <p:cNvPr id="10" name="椭圆 9"/>
            <p:cNvSpPr/>
            <p:nvPr/>
          </p:nvSpPr>
          <p:spPr>
            <a:xfrm flipV="1">
              <a:off x="6372" y="2660"/>
              <a:ext cx="2160" cy="2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 rot="10800000" flipV="1">
              <a:off x="6522" y="2811"/>
              <a:ext cx="1860" cy="18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3A6BBF"/>
                  </a:solidFill>
                </a:rPr>
                <a:t>发布</a:t>
              </a:r>
            </a:p>
          </p:txBody>
        </p:sp>
      </p:grpSp>
      <p:sp>
        <p:nvSpPr>
          <p:cNvPr id="9" name="文本框 32"/>
          <p:cNvSpPr txBox="1"/>
          <p:nvPr/>
        </p:nvSpPr>
        <p:spPr>
          <a:xfrm>
            <a:off x="7675220" y="1077778"/>
            <a:ext cx="2890521" cy="169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项目发布时用户无需选择路径，发布完成之后会在项目文件夹下生成一个.release文件夹，exe文件在.release文件夹下。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项目发布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276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88536" y="3331581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运行环境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4025051" y="2921168"/>
            <a:ext cx="98552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03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5718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25718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8022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062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152963" y="781981"/>
            <a:ext cx="9886073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作为三维可视化开发工具，需要对模型处理，数据运行都有比较高的要求，所以它对计算机图形处理能力要求这方面很高，运行时需要满足以下计算机配置。</a:t>
            </a:r>
            <a:endParaRPr lang="en-US" altLang="zh-CN" sz="18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table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62" y="1835266"/>
            <a:ext cx="9689985" cy="424075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运行环境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307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1473B757-9D0C-4144-B913-DF43D0196110}"/>
              </a:ext>
            </a:extLst>
          </p:cNvPr>
          <p:cNvSpPr/>
          <p:nvPr/>
        </p:nvSpPr>
        <p:spPr>
          <a:xfrm>
            <a:off x="3672617" y="3067391"/>
            <a:ext cx="5519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培训教程第七讲：</a:t>
            </a:r>
            <a:r>
              <a:rPr lang="zh-CN" altLang="en-US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调试与发布</a:t>
            </a:r>
            <a:endParaRPr lang="en-US" altLang="zh-CN" sz="3200" b="1" smtClean="0">
              <a:solidFill>
                <a:srgbClr val="5B9BD5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wMzc2NTFhMTI1ZThkNDk2NDlhMzU2YWFhMWZmMzkifQ=="/>
</p:tagLst>
</file>

<file path=ppt/theme/theme1.xml><?xml version="1.0" encoding="utf-8"?>
<a:theme xmlns:a="http://schemas.openxmlformats.org/drawingml/2006/main" name="同元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5000"/>
          </a:lnSpc>
          <a:defRPr sz="1600" dirty="0" smtClean="0">
            <a:latin typeface="等线" panose="02010600030101010101" pitchFamily="2" charset="-122"/>
            <a:ea typeface="等线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同元</Template>
  <TotalTime>32</TotalTime>
  <Words>361</Words>
  <Application>Microsoft Office PowerPoint</Application>
  <PresentationFormat>宽屏</PresentationFormat>
  <Paragraphs>51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Microsoft YaHei UI</vt:lpstr>
      <vt:lpstr>等线</vt:lpstr>
      <vt:lpstr>黑体-简</vt:lpstr>
      <vt:lpstr>宋体</vt:lpstr>
      <vt:lpstr>微软雅黑</vt:lpstr>
      <vt:lpstr>Arial</vt:lpstr>
      <vt:lpstr>Calibri</vt:lpstr>
      <vt:lpstr>Calibri Light</vt:lpstr>
      <vt:lpstr>Times New Roman</vt:lpstr>
      <vt:lpstr>同元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9</cp:revision>
  <dcterms:created xsi:type="dcterms:W3CDTF">2024-09-03T02:54:00Z</dcterms:created>
  <dcterms:modified xsi:type="dcterms:W3CDTF">2024-09-13T03:25:29Z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6CF5E696A18B46A5B26D44B2B828DD32_12</vt:lpwstr>
  </property>
  <property fmtid="{D5CDD505-2E9C-101B-9397-08002B2CF9AE}" pid="3" name="KSOProductBuildVer">
    <vt:lpwstr>2052-12.1.0.17827</vt:lpwstr>
  </property>
</Properties>
</file>